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This presentation covers a comprehensive analysis of cardiovascular disease risk factors using a large clinical dataset. I will walk you through the EDA, hypothesis testing, and risk quantification to derive actionable health insights.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Cardiovascular disease is a major global health issue, encompassing conditions like stroke and coronary artery disease. It's driven by both non-modifiable factors, such as age, and modifiable ones like blood pressure and BMI, which are key targets for intervention.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Our objective is to analyze a dataset of 70,000 clinical records to understand cardiovascular disease drivers. We specifically focus on quantifying how SBP, BMI, and the combination of hypertension and obesity affect disease probability.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 dataset is categorized into four groups: objective demographics, clinical examination metrics, lifestyle behaviors, and our binary target variable, cardio, representing disease presence.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engineered features by converting units for age and height, calculating BMI, and defining clinical thresholds for hypertension (140 over 90) and obesity (BMI 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To ensure data quality, we filtered out impossible blood pressure values, keeping only physiologically plausible records. This resulted in a clean subset of nearly 69,000 records.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Descriptives show the dataset is balanced with 50% CVD prevalence. The average patient is middle-aged and overweight, with a mean systolic BP slightly above the ideal 120.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Visual inspection confirms risk factors align with disease. BMI is skewed towards obesity, SBP has a hypertensive tail, and the diseased group shows visibly higher median values for both.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Our hypothesis test confirms that BMI is significantly higher in the CVD group. However, with a Cohen's d of 0.34, the effect size is moderate, meaning BMI contributes to risk but is likely part of a broader picture.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Comparing SBP between groups reveals a large effect size of 0.95, much stronger than BMI. The mean difference is over 14 mmHg, highlighting blood pressure as a critical discriminator for cardiovascular disease.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analyzed SBP across cholesterol levels using ANOVA. The results show a clear upward trend: as cholesterol category increases, so does mean systolic blood pressure, confirmed by high statistical significance.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Exploring continuous correlations: We found strong linkage between SBP and DBP, as expected. Age and BMI show modest positive associations with blood pressure, confirming that older and heavier individuals tend to have higher BP.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Using point-biserial correlations, we see that SBP has a much stronger link to disease status (0.43) than BMI (0.17), while physical activity shows almost no direct linear correlation with blood pressure.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Binary correlations reveal that lifestyle factors like smoking and activity have very weak direct links to CVD outcome in isolation, whereas smoking and alcohol use are moderately correlated behaviors.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categorized patients into four distinct groups based on the BP-plausible subset: 'Neither' as the healthy baseline, 'Obese Only', 'Hypertensive Only', and 'Both' representing the combined risk factors.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 data clearly shows that while obesity increases CVD prevalence, hypertension drives a massive jump from 32% to 77%. The combination of both factors pushes prevalence nearly to 80%.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Comparing relative risk, obesity alone increases risk by 1.4 times, whereas hypertension more than doubles it (RR 2.4). The combined group sees the highest risk, highlighting the compounding effect.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Our analysis suggests that while obesity matters, managing blood pressure is paramount. The data supports prioritizing BP control in clinical settings as the most effective single lever for reducing CVD risk.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can apply these findings to prioritize high-risk patients, but we must acknowledge limitations: this is a cross-sectional study, so we see associations, not causes, and unmeasured factors like diet are missing.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In conclusion, blood pressure is the dominant risk factor here. Future research should look at data over time to better understand causation and refine predictive models for patient care.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635000"/>
            <a:ext cx="10922000" cy="762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4200">
                <a:solidFill>
                  <a:srgbClr val="DFE2DF"/>
                </a:solidFill>
                <a:latin typeface="Montserrat"/>
                <a:ea typeface="Montserrat"/>
                <a:cs typeface="Montserrat"/>
                <a:sym typeface="Montserrat"/>
              </a:rPr>
              <a:t>Cardiovascular Disease Dataset Analysis</a:t>
            </a:r>
            <a:endParaRPr lang="en-US" sz="1100"/>
          </a:p>
        </p:txBody>
      </p:sp>
      <p:sp>
        <p:nvSpPr>
          <p:cNvPr name="AutoShape 3" id="3"/>
          <p:cNvSpPr/>
          <p:nvPr/>
        </p:nvSpPr>
        <p:spPr>
          <a:xfrm rot="0" flipH="false" flipV="false">
            <a:off x="635000" y="1524000"/>
            <a:ext cx="10922000" cy="1270000"/>
          </a:xfrm>
          <a:prstGeom prst="rect">
            <a:avLst/>
          </a:prstGeom>
          <a:noFill/>
          <a:ln w="12700" cmpd="sng" cap="flat">
            <a:noFill/>
            <a:prstDash val="solid"/>
            <a:round/>
          </a:ln>
        </p:spPr>
        <p:txBody>
          <a:bodyPr anchor="t" rtlCol="false" anchorCtr="false" vert="horz" wrap="square" lIns="0" rIns="0" tIns="0" bIns="0">
            <a:normAutofit fontScale="92500" lnSpcReduction="20000"/>
          </a:bodyPr>
          <a:lstStyle/>
          <a:p>
            <a:pPr algn="l" indent="0">
              <a:lnSpc>
                <a:spcPct val="125000"/>
              </a:lnSpc>
              <a:defRPr/>
            </a:pPr>
            <a:r>
              <a:rPr lang="en-US" b="false" i="false" strike="noStrike" u="none" sz="2400">
                <a:solidFill>
                  <a:srgbClr val="B0E64C"/>
                </a:solidFill>
                <a:latin typeface="Montserrat"/>
                <a:ea typeface="Montserrat"/>
                <a:cs typeface="Montserrat"/>
                <a:sym typeface="Montserrat"/>
              </a:rPr>
              <a:t>DS 204 – Analysis for Data Science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CCCFCC"/>
                </a:solidFill>
                <a:latin typeface="Open Sans"/>
                <a:ea typeface="Open Sans"/>
                <a:cs typeface="Open Sans"/>
                <a:sym typeface="Open Sans"/>
              </a:rPr>
              <a:t>Student: Balbino Souza Ramos Neto – Cornerstone Community College</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B9BCB8"/>
                </a:solidFill>
                <a:latin typeface="Open Sans"/>
                <a:ea typeface="Open Sans"/>
                <a:cs typeface="Open Sans"/>
                <a:sym typeface="Open Sans"/>
              </a:rPr>
              <a:t>This deck distills EDA, hypothesis tests, correlations, and joint risk analysis into actionable insights.</a:t>
            </a:r>
          </a:p>
        </p:txBody>
      </p:sp>
      <p:pic>
        <p:nvPicPr>
          <p:cNvPr name="Picture 4" id="4"/>
          <p:cNvPicPr>
            <a:picLocks noChangeAspect="true"/>
          </p:cNvPicPr>
          <p:nvPr/>
        </p:nvPicPr>
        <p:blipFill>
          <a:blip r:embed="rId2"/>
          <a:srcRect l="0" r="0" t="31312" b="31312"/>
          <a:stretch>
            <a:fillRect/>
          </a:stretch>
        </p:blipFill>
        <p:spPr>
          <a:xfrm rot="0" flipH="false" flipV="false">
            <a:off x="635000" y="3175000"/>
            <a:ext cx="10922000" cy="3048000"/>
          </a:xfrm>
          <a:prstGeom prst="roundRect">
            <a:avLst>
              <a:gd name="adj" fmla="val 3333"/>
            </a:avLst>
          </a:prstGeom>
          <a:noFill/>
          <a:ln w="25400" cmpd="sng" cap="flat">
            <a:noFill/>
            <a:prstDash val="solid"/>
            <a:round/>
          </a:ln>
          <a:effectLst>
            <a:outerShdw dir="2700000" dist="63500" blurRad="127000" algn="tl" rotWithShape="false">
              <a:srgbClr val="000000">
                <a:alpha val="25000"/>
              </a:srgbClr>
            </a:outerShdw>
          </a:effectLst>
        </p:spPr>
      </p:pic>
    </p:spTree>
  </p:cSld>
  <p:clrMapOvr>
    <a:masterClrMapping/>
  </p:clrMapOvr>
</p:sld>
</file>

<file path=ppt/slides/slide2.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Why CVD and Risk Factors Matter</a:t>
            </a:r>
            <a:endParaRPr lang="en-US" sz="1100"/>
          </a:p>
        </p:txBody>
      </p:sp>
      <p:sp>
        <p:nvSpPr>
          <p:cNvPr name="AutoShape 3" id="3"/>
          <p:cNvSpPr/>
          <p:nvPr/>
        </p:nvSpPr>
        <p:spPr>
          <a:xfrm rot="0" flipH="false" flipV="false">
            <a:off x="6350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254000">
            <a:normAutofit fontScale="100000" lnSpcReduction="0"/>
          </a:bodyPr>
          <a:lstStyle/>
          <a:p>
            <a:pPr algn="ctr" indent="0">
              <a:lnSpc>
                <a:spcPct val="125000"/>
              </a:lnSpc>
              <a:defRPr/>
            </a:pPr>
            <a:r>
              <a:rPr lang="en-US" b="false" i="false" strike="noStrike" u="none" sz="48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CVD Scope</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Encompasses coronary artery disease, stroke, and peripheral arterial disease, directly affecting the heart and vascular system structure.</a:t>
            </a:r>
          </a:p>
        </p:txBody>
      </p:sp>
      <p:sp>
        <p:nvSpPr>
          <p:cNvPr name="AutoShape 4" id="4"/>
          <p:cNvSpPr/>
          <p:nvPr/>
        </p:nvSpPr>
        <p:spPr>
          <a:xfrm rot="0" flipH="false" flipV="false">
            <a:off x="43815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254000">
            <a:normAutofit fontScale="100000" lnSpcReduction="0"/>
          </a:bodyPr>
          <a:lstStyle/>
          <a:p>
            <a:pPr algn="ctr" indent="0">
              <a:lnSpc>
                <a:spcPct val="125000"/>
              </a:lnSpc>
              <a:defRPr/>
            </a:pPr>
            <a:r>
              <a:rPr lang="en-US" b="false" i="false" strike="noStrike" u="none" sz="48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Global Impact</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Stands as a leading cause of morbidity and mortality worldwide, presenting a critical and urgent public health challenge.</a:t>
            </a:r>
          </a:p>
        </p:txBody>
      </p:sp>
      <p:sp>
        <p:nvSpPr>
          <p:cNvPr name="AutoShape 5" id="5"/>
          <p:cNvSpPr/>
          <p:nvPr/>
        </p:nvSpPr>
        <p:spPr>
          <a:xfrm rot="0" flipH="false" flipV="false">
            <a:off x="81280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254000">
            <a:normAutofit fontScale="100000" lnSpcReduction="0"/>
          </a:bodyPr>
          <a:lstStyle/>
          <a:p>
            <a:pPr algn="ctr" indent="0">
              <a:lnSpc>
                <a:spcPct val="125000"/>
              </a:lnSpc>
              <a:defRPr/>
            </a:pPr>
            <a:r>
              <a:rPr lang="en-US" b="false" i="false" strike="noStrike" u="none" sz="48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Risk Factors</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Driven by non-modifiable traits like age and sex, alongside modifiable factors like BP and BMI that allow for intervention.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Project Objective</a:t>
            </a:r>
            <a:endParaRPr lang="en-US" sz="1100"/>
          </a:p>
        </p:txBody>
      </p:sp>
      <p:sp>
        <p:nvSpPr>
          <p:cNvPr name="AutoShape 3" id="3"/>
          <p:cNvSpPr/>
          <p:nvPr/>
        </p:nvSpPr>
        <p:spPr>
          <a:xfrm rot="0" flipH="false" flipV="false">
            <a:off x="635000" y="1524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200">
                <a:solidFill>
                  <a:srgbClr val="B0E64C"/>
                </a:solidFill>
                <a:latin typeface="Montserrat"/>
                <a:ea typeface="Montserrat"/>
                <a:cs typeface="Montserrat"/>
                <a:sym typeface="Montserrat"/>
              </a:rPr>
              <a:t>📂 Clinical Dataset</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Utilizing the 'cardiotrain.csv' dataset containing approximately 70,000 real clinical examination records.</a:t>
            </a:r>
            <a:endParaRPr lang="en-US" sz="1100"/>
          </a:p>
        </p:txBody>
      </p:sp>
      <p:sp>
        <p:nvSpPr>
          <p:cNvPr name="AutoShape 4" id="4"/>
          <p:cNvSpPr/>
          <p:nvPr/>
        </p:nvSpPr>
        <p:spPr>
          <a:xfrm rot="0" flipH="false" flipV="false">
            <a:off x="635000" y="3175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200">
                <a:solidFill>
                  <a:srgbClr val="B0E64C"/>
                </a:solidFill>
                <a:latin typeface="Montserrat"/>
                <a:ea typeface="Montserrat"/>
                <a:cs typeface="Montserrat"/>
                <a:sym typeface="Montserrat"/>
              </a:rPr>
              <a:t>🎯 Target Outcome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Predicting the presence or absence of cardiovascular disease (binary variable: cardio = 1 or 0).</a:t>
            </a:r>
            <a:endParaRPr lang="en-US" sz="1100"/>
          </a:p>
        </p:txBody>
      </p:sp>
      <p:sp>
        <p:nvSpPr>
          <p:cNvPr name="AutoShape 5" id="5"/>
          <p:cNvSpPr/>
          <p:nvPr/>
        </p:nvSpPr>
        <p:spPr>
          <a:xfrm rot="0" flipH="false" flipV="false">
            <a:off x="635000" y="4826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200">
                <a:solidFill>
                  <a:srgbClr val="B0E64C"/>
                </a:solidFill>
                <a:latin typeface="Montserrat"/>
                <a:ea typeface="Montserrat"/>
                <a:cs typeface="Montserrat"/>
                <a:sym typeface="Montserrat"/>
              </a:rPr>
              <a:t>🔍 Analytical Focus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Quantifying association strength for SBP, BMI, and the joint risk of hypertension combined with obesity.</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Dataset and Variables</a:t>
            </a:r>
            <a:endParaRPr lang="en-US" sz="1100"/>
          </a:p>
        </p:txBody>
      </p:sp>
      <p:sp>
        <p:nvSpPr>
          <p:cNvPr name="AutoShape 3" id="3"/>
          <p:cNvSpPr/>
          <p:nvPr/>
        </p:nvSpPr>
        <p:spPr>
          <a:xfrm rot="0" flipH="false" flipV="false">
            <a:off x="635000" y="1524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 Objective Features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Basic demographic data including Age (days), Height (cm), Weight (kg), and Gender, providing the foundational profile for each patient.</a:t>
            </a:r>
          </a:p>
        </p:txBody>
      </p:sp>
      <p:sp>
        <p:nvSpPr>
          <p:cNvPr name="AutoShape 4" id="4"/>
          <p:cNvSpPr/>
          <p:nvPr/>
        </p:nvSpPr>
        <p:spPr>
          <a:xfrm rot="0" flipH="false" flipV="false">
            <a:off x="6286500" y="1524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 Examination Features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Clinical measurements recorded during visits: Systolic BP (ap_hi), Diastolic BP (ap_lo), Cholesterol levels, and Glucose levels.</a:t>
            </a:r>
          </a:p>
        </p:txBody>
      </p:sp>
      <p:sp>
        <p:nvSpPr>
          <p:cNvPr name="AutoShape 5" id="5"/>
          <p:cNvSpPr/>
          <p:nvPr/>
        </p:nvSpPr>
        <p:spPr>
          <a:xfrm rot="0" flipH="false" flipV="false">
            <a:off x="635000" y="4191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 Lifestyle Features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Behavioral risk factors reported by patients, specifically Smoking status, Alcohol consumption, and physical Activity levels.</a:t>
            </a:r>
          </a:p>
        </p:txBody>
      </p:sp>
      <p:sp>
        <p:nvSpPr>
          <p:cNvPr name="AutoShape 6" id="6"/>
          <p:cNvSpPr/>
          <p:nvPr/>
        </p:nvSpPr>
        <p:spPr>
          <a:xfrm rot="0" flipH="false" flipV="false">
            <a:off x="6286500" y="4191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 Target Variable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Cardio: A binary target variable indicating the presence (1) or absence (0) of cardiovascular disease.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Feature Engineering and Definitions</a:t>
            </a:r>
            <a:endParaRPr lang="en-US" sz="1100"/>
          </a:p>
        </p:txBody>
      </p:sp>
      <p:sp>
        <p:nvSpPr>
          <p:cNvPr name="AutoShape 3" id="3"/>
          <p:cNvSpPr/>
          <p:nvPr/>
        </p:nvSpPr>
        <p:spPr>
          <a:xfrm rot="0" flipH="false" flipV="false">
            <a:off x="635000" y="1524000"/>
            <a:ext cx="10922000" cy="1079500"/>
          </a:xfrm>
          <a:prstGeom prst="roundRect">
            <a:avLst>
              <a:gd name="adj" fmla="val 9411"/>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l" indent="0">
              <a:lnSpc>
                <a:spcPct val="125000"/>
              </a:lnSpc>
              <a:defRPr/>
            </a:pPr>
            <a:r>
              <a:rPr lang="en-US" b="true" i="false" strike="noStrike" u="none" sz="1800">
                <a:solidFill>
                  <a:srgbClr val="B0E64C"/>
                </a:solidFill>
                <a:latin typeface="Montserrat"/>
                <a:ea typeface="Montserrat"/>
                <a:cs typeface="Montserrat"/>
                <a:sym typeface="Montserrat"/>
              </a:rPr>
              <a:t>Unit Standardization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CCCFCC"/>
                </a:solidFill>
                <a:latin typeface="Open Sans"/>
                <a:ea typeface="Open Sans"/>
                <a:cs typeface="Open Sans"/>
                <a:sym typeface="Open Sans"/>
              </a:rPr>
              <a:t>Converted Age from days to AgeYears (days / 365.25) and Height from cm to Height_m (cm / 100).</a:t>
            </a:r>
            <a:endParaRPr lang="en-US" sz="1100"/>
          </a:p>
        </p:txBody>
      </p:sp>
      <p:sp>
        <p:nvSpPr>
          <p:cNvPr name="AutoShape 4" id="4"/>
          <p:cNvSpPr/>
          <p:nvPr/>
        </p:nvSpPr>
        <p:spPr>
          <a:xfrm rot="0" flipH="false" flipV="false">
            <a:off x="635000" y="2857500"/>
            <a:ext cx="10922000" cy="1079500"/>
          </a:xfrm>
          <a:prstGeom prst="roundRect">
            <a:avLst>
              <a:gd name="adj" fmla="val 9411"/>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l" indent="0">
              <a:lnSpc>
                <a:spcPct val="125000"/>
              </a:lnSpc>
              <a:defRPr/>
            </a:pPr>
            <a:r>
              <a:rPr lang="en-US" b="true" i="false" strike="noStrike" u="none" sz="1800">
                <a:solidFill>
                  <a:srgbClr val="B0E64C"/>
                </a:solidFill>
                <a:latin typeface="Montserrat"/>
                <a:ea typeface="Montserrat"/>
                <a:cs typeface="Montserrat"/>
                <a:sym typeface="Montserrat"/>
              </a:rPr>
              <a:t>BMI Calculation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CCCFCC"/>
                </a:solidFill>
                <a:latin typeface="Open Sans"/>
                <a:ea typeface="Open Sans"/>
                <a:cs typeface="Open Sans"/>
                <a:sym typeface="Open Sans"/>
              </a:rPr>
              <a:t>Computed Body Mass Index using the standard formula: BMI = Weight_kg / (Height_m)².</a:t>
            </a:r>
            <a:endParaRPr lang="en-US" sz="1100"/>
          </a:p>
        </p:txBody>
      </p:sp>
      <p:sp>
        <p:nvSpPr>
          <p:cNvPr name="AutoShape 5" id="5"/>
          <p:cNvSpPr/>
          <p:nvPr/>
        </p:nvSpPr>
        <p:spPr>
          <a:xfrm rot="0" flipH="false" flipV="false">
            <a:off x="635000" y="4191000"/>
            <a:ext cx="10922000" cy="1079500"/>
          </a:xfrm>
          <a:prstGeom prst="roundRect">
            <a:avLst>
              <a:gd name="adj" fmla="val 9411"/>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l" indent="0">
              <a:lnSpc>
                <a:spcPct val="125000"/>
              </a:lnSpc>
              <a:defRPr/>
            </a:pPr>
            <a:r>
              <a:rPr lang="en-US" b="true" i="false" strike="noStrike" u="none" sz="1800">
                <a:solidFill>
                  <a:srgbClr val="B0E64C"/>
                </a:solidFill>
                <a:latin typeface="Montserrat"/>
                <a:ea typeface="Montserrat"/>
                <a:cs typeface="Montserrat"/>
                <a:sym typeface="Montserrat"/>
              </a:rPr>
              <a:t>Hypertension Definition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CCCFCC"/>
                </a:solidFill>
                <a:latin typeface="Open Sans"/>
                <a:ea typeface="Open Sans"/>
                <a:cs typeface="Open Sans"/>
                <a:sym typeface="Open Sans"/>
              </a:rPr>
              <a:t>Defined as Systolic BP ≥ 140 mmHg OR Diastolic BP ≥ 90 mmHg (applied to plausible BP records).</a:t>
            </a:r>
            <a:endParaRPr lang="en-US" sz="1100"/>
          </a:p>
        </p:txBody>
      </p:sp>
      <p:sp>
        <p:nvSpPr>
          <p:cNvPr name="AutoShape 6" id="6"/>
          <p:cNvSpPr/>
          <p:nvPr/>
        </p:nvSpPr>
        <p:spPr>
          <a:xfrm rot="0" flipH="false" flipV="false">
            <a:off x="635000" y="5524500"/>
            <a:ext cx="10922000" cy="1079500"/>
          </a:xfrm>
          <a:prstGeom prst="roundRect">
            <a:avLst>
              <a:gd name="adj" fmla="val 9411"/>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l" indent="0">
              <a:lnSpc>
                <a:spcPct val="125000"/>
              </a:lnSpc>
              <a:defRPr/>
            </a:pPr>
            <a:r>
              <a:rPr lang="en-US" b="true" i="false" strike="noStrike" u="none" sz="1800">
                <a:solidFill>
                  <a:srgbClr val="B0E64C"/>
                </a:solidFill>
                <a:latin typeface="Montserrat"/>
                <a:ea typeface="Montserrat"/>
                <a:cs typeface="Montserrat"/>
                <a:sym typeface="Montserrat"/>
              </a:rPr>
              <a:t>Obesity Definition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CCCFCC"/>
                </a:solidFill>
                <a:latin typeface="Open Sans"/>
                <a:ea typeface="Open Sans"/>
                <a:cs typeface="Open Sans"/>
                <a:sym typeface="Open Sans"/>
              </a:rPr>
              <a:t>Classified patients as obese if their Body Mass Index (BMI) is greater than or equal to 30.</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BP Plausibility Filter</a:t>
            </a:r>
            <a:endParaRPr lang="en-US" sz="1100"/>
          </a:p>
        </p:txBody>
      </p:sp>
      <p:sp>
        <p:nvSpPr>
          <p:cNvPr name="AutoShape 3" id="3"/>
          <p:cNvSpPr/>
          <p:nvPr/>
        </p:nvSpPr>
        <p:spPr>
          <a:xfrm rot="0" flipH="false" flipV="false">
            <a:off x="6350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Data Quality</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We implemented a filtering step to remove physiologically implausible blood pressure values that would skew analysis.</a:t>
            </a:r>
          </a:p>
        </p:txBody>
      </p:sp>
      <p:sp>
        <p:nvSpPr>
          <p:cNvPr name="AutoShape 4" id="4"/>
          <p:cNvSpPr/>
          <p:nvPr/>
        </p:nvSpPr>
        <p:spPr>
          <a:xfrm rot="0" flipH="false" flipV="false">
            <a:off x="43815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Filter Rules</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Kept records with Systolic BP 70–250, Diastolic BP 40–150, and ensured Systolic ≥ Diastolic.</a:t>
            </a:r>
          </a:p>
        </p:txBody>
      </p:sp>
      <p:sp>
        <p:nvSpPr>
          <p:cNvPr name="AutoShape 5" id="5"/>
          <p:cNvSpPr/>
          <p:nvPr/>
        </p:nvSpPr>
        <p:spPr>
          <a:xfrm rot="0" flipH="false" flipV="false">
            <a:off x="81280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Final Subset</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The final clean subset contains 68,668 records, retaining approx 98% of the original dataset for robust analysis.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EDA: Overall Descriptives</a:t>
            </a:r>
            <a:endParaRPr lang="en-US" sz="1100"/>
          </a:p>
        </p:txBody>
      </p:sp>
      <p:sp>
        <p:nvSpPr>
          <p:cNvPr name="AutoShape 3" id="3"/>
          <p:cNvSpPr/>
          <p:nvPr/>
        </p:nvSpPr>
        <p:spPr>
          <a:xfrm rot="0" flipH="false" flipV="false">
            <a:off x="635000" y="1524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Disease Prevalence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CVD is present in 49.97% of examinations, indicating a perfectly balanced dataset for modeling.</a:t>
            </a:r>
            <a:endParaRPr lang="en-US" sz="1100"/>
          </a:p>
        </p:txBody>
      </p:sp>
      <p:sp>
        <p:nvSpPr>
          <p:cNvPr name="AutoShape 4" id="4"/>
          <p:cNvSpPr/>
          <p:nvPr/>
        </p:nvSpPr>
        <p:spPr>
          <a:xfrm rot="0" flipH="false" flipV="false">
            <a:off x="635000" y="3175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Key Demographics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Age: Mean 53.3 years (SD 6.76). BMI: Mean 27.6 kg/m² (SD 6.09), suggesting an overweight average.</a:t>
            </a:r>
            <a:endParaRPr lang="en-US" sz="1100"/>
          </a:p>
        </p:txBody>
      </p:sp>
      <p:sp>
        <p:nvSpPr>
          <p:cNvPr name="AutoShape 5" id="5"/>
          <p:cNvSpPr/>
          <p:nvPr/>
        </p:nvSpPr>
        <p:spPr>
          <a:xfrm rot="0" flipH="false" flipV="false">
            <a:off x="635000" y="4826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Blood Pressure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Systolic BP (plausible subset): Mean 126.7 mmHg, Median 120 mmHg, with substantial variance (SD 16.68).</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EDA: Visual Patterns</a:t>
            </a:r>
            <a:endParaRPr lang="en-US" sz="1100"/>
          </a:p>
        </p:txBody>
      </p:sp>
      <p:sp>
        <p:nvSpPr>
          <p:cNvPr name="AutoShape 3" id="3"/>
          <p:cNvSpPr/>
          <p:nvPr/>
        </p:nvSpPr>
        <p:spPr>
          <a:xfrm rot="0" flipH="false" flipV="false">
            <a:off x="6350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BMI Distribution</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The BMI histogram is right-skewed, revealing a high concentration of individuals in the overweight and obese ranges.</a:t>
            </a:r>
          </a:p>
        </p:txBody>
      </p:sp>
      <p:sp>
        <p:nvSpPr>
          <p:cNvPr name="AutoShape 4" id="4"/>
          <p:cNvSpPr/>
          <p:nvPr/>
        </p:nvSpPr>
        <p:spPr>
          <a:xfrm rot="0" flipH="false" flipV="false">
            <a:off x="43815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SBP Distribution</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Systolic blood pressure peaks around 120 mmHg but shows a significant long right tail indicating hypertensive cases.</a:t>
            </a:r>
          </a:p>
        </p:txBody>
      </p:sp>
      <p:sp>
        <p:nvSpPr>
          <p:cNvPr name="AutoShape 5" id="5"/>
          <p:cNvSpPr/>
          <p:nvPr/>
        </p:nvSpPr>
        <p:spPr>
          <a:xfrm rot="0" flipH="false" flipV="false">
            <a:off x="81280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Group Comparison</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Boxplots clearly distinguish the groups: those with CVD (cardio=1) consistently show higher median SBP and BMI.</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Hypothesis Test: BMI vs CVD</a:t>
            </a:r>
            <a:endParaRPr lang="en-US" sz="1100"/>
          </a:p>
        </p:txBody>
      </p:sp>
      <p:sp>
        <p:nvSpPr>
          <p:cNvPr name="AutoShape 3" id="3"/>
          <p:cNvSpPr/>
          <p:nvPr/>
        </p:nvSpPr>
        <p:spPr>
          <a:xfrm rot="0" flipH="false" flipV="false">
            <a:off x="635000" y="1524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Comparing Means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Cardio Group: </a:t>
            </a:r>
            <a:r>
              <a:rPr lang="en-US" b="true" i="false" strike="noStrike" u="none" sz="1800">
                <a:solidFill>
                  <a:srgbClr val="CCCFCC"/>
                </a:solidFill>
                <a:latin typeface="Open Sans"/>
                <a:ea typeface="Open Sans"/>
                <a:cs typeface="Open Sans"/>
                <a:sym typeface="Open Sans"/>
              </a:rPr>
              <a:t>28.57</a:t>
            </a:r>
            <a:r>
              <a:rPr lang="en-US" b="false" i="false" strike="noStrike" u="none" sz="1800">
                <a:solidFill>
                  <a:srgbClr val="CCCFCC"/>
                </a:solidFill>
                <a:latin typeface="Open Sans"/>
                <a:ea typeface="Open Sans"/>
                <a:cs typeface="Open Sans"/>
                <a:sym typeface="Open Sans"/>
              </a:rPr>
              <a:t> vs No Cardio Group: </a:t>
            </a:r>
            <a:r>
              <a:rPr lang="en-US" b="true" i="false" strike="noStrike" u="none" sz="1800">
                <a:solidFill>
                  <a:srgbClr val="CCCFCC"/>
                </a:solidFill>
                <a:latin typeface="Open Sans"/>
                <a:ea typeface="Open Sans"/>
                <a:cs typeface="Open Sans"/>
                <a:sym typeface="Open Sans"/>
              </a:rPr>
              <a:t>26.55</a:t>
            </a:r>
            <a:r>
              <a:rPr lang="en-US" b="false" i="false" strike="noStrike" u="none" sz="1800">
                <a:solidFill>
                  <a:srgbClr val="CCCFCC"/>
                </a:solidFill>
                <a:latin typeface="Open Sans"/>
                <a:ea typeface="Open Sans"/>
                <a:cs typeface="Open Sans"/>
                <a:sym typeface="Open Sans"/>
              </a:rPr>
              <a:t>. The diseased group has a higher average BMI.</a:t>
            </a:r>
            <a:endParaRPr lang="en-US" sz="1100"/>
          </a:p>
        </p:txBody>
      </p:sp>
      <p:sp>
        <p:nvSpPr>
          <p:cNvPr name="AutoShape 4" id="4"/>
          <p:cNvSpPr/>
          <p:nvPr/>
        </p:nvSpPr>
        <p:spPr>
          <a:xfrm rot="0" flipH="false" flipV="false">
            <a:off x="635000" y="3175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Statistical Significance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Welch t-test yields t ≈ 44.43 with p &lt; 0.001, confirming the difference is statistically significant.</a:t>
            </a:r>
            <a:endParaRPr lang="en-US" sz="1100"/>
          </a:p>
        </p:txBody>
      </p:sp>
      <p:sp>
        <p:nvSpPr>
          <p:cNvPr name="AutoShape 5" id="5"/>
          <p:cNvSpPr/>
          <p:nvPr/>
        </p:nvSpPr>
        <p:spPr>
          <a:xfrm rot="0" flipH="false" flipV="false">
            <a:off x="635000" y="4826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Effect Size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Cohen’s d ≈ 0.34 indicates a small-to-moderate standardized difference, suggesting BMI is a factor but not the sole driver.</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Hypothesis Test: SBP vs CVD</a:t>
            </a:r>
            <a:endParaRPr lang="en-US" sz="1100"/>
          </a:p>
        </p:txBody>
      </p:sp>
      <p:sp>
        <p:nvSpPr>
          <p:cNvPr name="AutoShape 3" id="3"/>
          <p:cNvSpPr/>
          <p:nvPr/>
        </p:nvSpPr>
        <p:spPr>
          <a:xfrm rot="0" flipH="false" flipV="false">
            <a:off x="635000" y="1524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Comparing Means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Cardio Group: </a:t>
            </a:r>
            <a:r>
              <a:rPr lang="en-US" b="true" i="false" strike="noStrike" u="none" sz="1800">
                <a:solidFill>
                  <a:srgbClr val="CCCFCC"/>
                </a:solidFill>
                <a:latin typeface="Open Sans"/>
                <a:ea typeface="Open Sans"/>
                <a:cs typeface="Open Sans"/>
                <a:sym typeface="Open Sans"/>
              </a:rPr>
              <a:t>133.89</a:t>
            </a:r>
            <a:r>
              <a:rPr lang="en-US" b="false" i="false" strike="noStrike" u="none" sz="1800">
                <a:solidFill>
                  <a:srgbClr val="CCCFCC"/>
                </a:solidFill>
                <a:latin typeface="Open Sans"/>
                <a:ea typeface="Open Sans"/>
                <a:cs typeface="Open Sans"/>
                <a:sym typeface="Open Sans"/>
              </a:rPr>
              <a:t> mmHg vs No Cardio Group: </a:t>
            </a:r>
            <a:r>
              <a:rPr lang="en-US" b="true" i="false" strike="noStrike" u="none" sz="1800">
                <a:solidFill>
                  <a:srgbClr val="CCCFCC"/>
                </a:solidFill>
                <a:latin typeface="Open Sans"/>
                <a:ea typeface="Open Sans"/>
                <a:cs typeface="Open Sans"/>
                <a:sym typeface="Open Sans"/>
              </a:rPr>
              <a:t>119.6</a:t>
            </a:r>
            <a:r>
              <a:rPr lang="en-US" b="false" i="false" strike="noStrike" u="none" sz="1800">
                <a:solidFill>
                  <a:srgbClr val="CCCFCC"/>
                </a:solidFill>
                <a:latin typeface="Open Sans"/>
                <a:ea typeface="Open Sans"/>
                <a:cs typeface="Open Sans"/>
                <a:sym typeface="Open Sans"/>
              </a:rPr>
              <a:t> mmHg. The gap is substantial.</a:t>
            </a:r>
            <a:endParaRPr lang="en-US" sz="1100"/>
          </a:p>
        </p:txBody>
      </p:sp>
      <p:sp>
        <p:nvSpPr>
          <p:cNvPr name="AutoShape 4" id="4"/>
          <p:cNvSpPr/>
          <p:nvPr/>
        </p:nvSpPr>
        <p:spPr>
          <a:xfrm rot="0" flipH="false" flipV="false">
            <a:off x="635000" y="3175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Statistical Significance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Welch t-test yields t ≈ 123.73 (p &lt; 0.001), indicating an extremely significant difference.</a:t>
            </a:r>
            <a:endParaRPr lang="en-US" sz="1100"/>
          </a:p>
        </p:txBody>
      </p:sp>
      <p:sp>
        <p:nvSpPr>
          <p:cNvPr name="AutoShape 5" id="5"/>
          <p:cNvSpPr/>
          <p:nvPr/>
        </p:nvSpPr>
        <p:spPr>
          <a:xfrm rot="0" flipH="false" flipV="false">
            <a:off x="635000" y="4826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400">
                <a:solidFill>
                  <a:srgbClr val="B0E64C"/>
                </a:solidFill>
                <a:latin typeface="Montserrat"/>
                <a:ea typeface="Montserrat"/>
                <a:cs typeface="Montserrat"/>
                <a:sym typeface="Montserrat"/>
              </a:rPr>
              <a:t>📉 Effect Size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Cohen’s d ≈ 0.95 indicates a large standardized difference, showing SBP is a much stronger discriminator than BMI.</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SBP by Cholesterol Category (ANOVA)</a:t>
            </a:r>
            <a:endParaRPr lang="en-US" sz="1100"/>
          </a:p>
        </p:txBody>
      </p:sp>
      <p:sp>
        <p:nvSpPr>
          <p:cNvPr name="AutoShape 3" id="3"/>
          <p:cNvSpPr/>
          <p:nvPr/>
        </p:nvSpPr>
        <p:spPr>
          <a:xfrm rot="0" flipH="false" flipV="false">
            <a:off x="635000" y="1524000"/>
            <a:ext cx="3429000" cy="3302000"/>
          </a:xfrm>
          <a:prstGeom prst="roundRect">
            <a:avLst>
              <a:gd name="adj" fmla="val 3076"/>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ctr" indent="0">
              <a:lnSpc>
                <a:spcPct val="125000"/>
              </a:lnSpc>
              <a:defRPr/>
            </a:pPr>
            <a:r>
              <a:rPr lang="en-US" b="false" i="false" strike="noStrike" u="none" sz="4800">
                <a:solidFill>
                  <a:srgbClr val="1F2329"/>
                </a:solidFill>
                <a:latin typeface="Montserrat"/>
                <a:ea typeface="Montserrat"/>
                <a:cs typeface="Montserrat"/>
                <a:sym typeface="Montserrat"/>
              </a:rPr>
              <a:t>1️⃣</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Normal</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true" i="false" strike="noStrike" u="none" sz="2400">
                <a:solidFill>
                  <a:srgbClr val="CCCFCC"/>
                </a:solidFill>
                <a:latin typeface="Open Sans"/>
                <a:ea typeface="Open Sans"/>
                <a:cs typeface="Open Sans"/>
                <a:sym typeface="Open Sans"/>
              </a:rPr>
              <a:t>124.8</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B9BCB8"/>
                </a:solidFill>
                <a:latin typeface="Open Sans"/>
                <a:ea typeface="Open Sans"/>
                <a:cs typeface="Open Sans"/>
                <a:sym typeface="Open Sans"/>
              </a:rPr>
              <a:t>Mean mmHg</a:t>
            </a:r>
          </a:p>
        </p:txBody>
      </p:sp>
      <p:sp>
        <p:nvSpPr>
          <p:cNvPr name="AutoShape 4" id="4"/>
          <p:cNvSpPr/>
          <p:nvPr/>
        </p:nvSpPr>
        <p:spPr>
          <a:xfrm rot="0" flipH="false" flipV="false">
            <a:off x="4381500" y="1524000"/>
            <a:ext cx="3429000" cy="3302000"/>
          </a:xfrm>
          <a:prstGeom prst="roundRect">
            <a:avLst>
              <a:gd name="adj" fmla="val 3076"/>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ctr" indent="0">
              <a:lnSpc>
                <a:spcPct val="125000"/>
              </a:lnSpc>
              <a:defRPr/>
            </a:pPr>
            <a:r>
              <a:rPr lang="en-US" b="false" i="false" strike="noStrike" u="none" sz="4800">
                <a:solidFill>
                  <a:srgbClr val="1F2329"/>
                </a:solidFill>
                <a:latin typeface="Montserrat"/>
                <a:ea typeface="Montserrat"/>
                <a:cs typeface="Montserrat"/>
                <a:sym typeface="Montserrat"/>
              </a:rPr>
              <a:t>2️⃣</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Above Normal</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true" i="false" strike="noStrike" u="none" sz="2400">
                <a:solidFill>
                  <a:srgbClr val="CCCFCC"/>
                </a:solidFill>
                <a:latin typeface="Open Sans"/>
                <a:ea typeface="Open Sans"/>
                <a:cs typeface="Open Sans"/>
                <a:sym typeface="Open Sans"/>
              </a:rPr>
              <a:t>130.9</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B9BCB8"/>
                </a:solidFill>
                <a:latin typeface="Open Sans"/>
                <a:ea typeface="Open Sans"/>
                <a:cs typeface="Open Sans"/>
                <a:sym typeface="Open Sans"/>
              </a:rPr>
              <a:t>Mean mmHg</a:t>
            </a:r>
          </a:p>
        </p:txBody>
      </p:sp>
      <p:sp>
        <p:nvSpPr>
          <p:cNvPr name="AutoShape 5" id="5"/>
          <p:cNvSpPr/>
          <p:nvPr/>
        </p:nvSpPr>
        <p:spPr>
          <a:xfrm rot="0" flipH="false" flipV="false">
            <a:off x="8128000" y="1524000"/>
            <a:ext cx="3429000" cy="3302000"/>
          </a:xfrm>
          <a:prstGeom prst="roundRect">
            <a:avLst>
              <a:gd name="adj" fmla="val 3076"/>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ctr" indent="0">
              <a:lnSpc>
                <a:spcPct val="125000"/>
              </a:lnSpc>
              <a:defRPr/>
            </a:pPr>
            <a:r>
              <a:rPr lang="en-US" b="false" i="false" strike="noStrike" u="none" sz="4800">
                <a:solidFill>
                  <a:srgbClr val="1F2329"/>
                </a:solidFill>
                <a:latin typeface="Montserrat"/>
                <a:ea typeface="Montserrat"/>
                <a:cs typeface="Montserrat"/>
                <a:sym typeface="Montserrat"/>
              </a:rPr>
              <a:t>3️⃣</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Well Above</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true" i="false" strike="noStrike" u="none" sz="2400">
                <a:solidFill>
                  <a:srgbClr val="CCCFCC"/>
                </a:solidFill>
                <a:latin typeface="Open Sans"/>
                <a:ea typeface="Open Sans"/>
                <a:cs typeface="Open Sans"/>
                <a:sym typeface="Open Sans"/>
              </a:rPr>
              <a:t>133.8</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B9BCB8"/>
                </a:solidFill>
                <a:latin typeface="Open Sans"/>
                <a:ea typeface="Open Sans"/>
                <a:cs typeface="Open Sans"/>
                <a:sym typeface="Open Sans"/>
              </a:rPr>
              <a:t>Mean mmHg</a:t>
            </a:r>
          </a:p>
        </p:txBody>
      </p:sp>
      <p:sp>
        <p:nvSpPr>
          <p:cNvPr name="AutoShape 6" id="6"/>
          <p:cNvSpPr/>
          <p:nvPr/>
        </p:nvSpPr>
        <p:spPr>
          <a:xfrm rot="0" flipH="false" flipV="false">
            <a:off x="635000" y="5080000"/>
            <a:ext cx="10922000" cy="1143000"/>
          </a:xfrm>
          <a:prstGeom prst="roundRect">
            <a:avLst>
              <a:gd name="adj" fmla="val 8888"/>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1800">
                <a:solidFill>
                  <a:srgbClr val="B0E64C"/>
                </a:solidFill>
                <a:latin typeface="Montserrat"/>
                <a:ea typeface="Montserrat"/>
                <a:cs typeface="Montserrat"/>
                <a:sym typeface="Montserrat"/>
              </a:rPr>
              <a:t>ANOVA Result: </a:t>
            </a:r>
            <a:r>
              <a:rPr lang="en-US" b="false" i="false" strike="noStrike" u="none" sz="1800">
                <a:solidFill>
                  <a:srgbClr val="CCCFCC"/>
                </a:solidFill>
                <a:latin typeface="Open Sans"/>
                <a:ea typeface="Open Sans"/>
                <a:cs typeface="Open Sans"/>
                <a:sym typeface="Open Sans"/>
              </a:rPr>
              <a:t>F ≈ 1393.62, p &lt; 0.001, η² ≈ 0.039. There is a clear, statistically significant trend of increasing blood pressure across rising cholesterol categories.</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Correlations (Continuous–Continuous)</a:t>
            </a:r>
            <a:endParaRPr lang="en-US" sz="1100"/>
          </a:p>
        </p:txBody>
      </p:sp>
      <p:sp>
        <p:nvSpPr>
          <p:cNvPr name="AutoShape 3" id="3"/>
          <p:cNvSpPr/>
          <p:nvPr/>
        </p:nvSpPr>
        <p:spPr>
          <a:xfrm rot="0" flipH="false" flipV="false">
            <a:off x="635000" y="1524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Age vs BMI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Shows a weak positive association. While age increases, BMI tends to rise slightly, but the relationship is not strong.</a:t>
            </a:r>
          </a:p>
        </p:txBody>
      </p:sp>
      <p:sp>
        <p:nvSpPr>
          <p:cNvPr name="AutoShape 4" id="4"/>
          <p:cNvSpPr/>
          <p:nvPr/>
        </p:nvSpPr>
        <p:spPr>
          <a:xfrm rot="0" flipH="false" flipV="false">
            <a:off x="6286500" y="1524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Age vs SBP</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Demonstrates modest positive correlations. As individuals age, their systolic blood pressure generally trends higher.</a:t>
            </a:r>
          </a:p>
        </p:txBody>
      </p:sp>
      <p:sp>
        <p:nvSpPr>
          <p:cNvPr name="AutoShape 5" id="5"/>
          <p:cNvSpPr/>
          <p:nvPr/>
        </p:nvSpPr>
        <p:spPr>
          <a:xfrm rot="0" flipH="false" flipV="false">
            <a:off x="635000" y="4191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BMI vs SBP</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Modest positive correlation observed. Higher body mass index is associated with elevated systolic blood pressure levels.</a:t>
            </a:r>
          </a:p>
        </p:txBody>
      </p:sp>
      <p:sp>
        <p:nvSpPr>
          <p:cNvPr name="AutoShape 6" id="6"/>
          <p:cNvSpPr/>
          <p:nvPr/>
        </p:nvSpPr>
        <p:spPr>
          <a:xfrm rot="0" flipH="false" flipV="false">
            <a:off x="6286500" y="4191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SBP vs DBP</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Strong positive correlation (r ≈ 0.73). Systolic and diastolic pressures move closely together, as expected physiologically.</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Correlations (Binary–Continuous)</a:t>
            </a:r>
            <a:endParaRPr lang="en-US" sz="1100"/>
          </a:p>
        </p:txBody>
      </p:sp>
      <p:sp>
        <p:nvSpPr>
          <p:cNvPr name="AutoShape 3" id="3"/>
          <p:cNvSpPr/>
          <p:nvPr/>
        </p:nvSpPr>
        <p:spPr>
          <a:xfrm rot="0" flipH="false" flipV="false">
            <a:off x="6350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Cardio vs BMI</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r_pb ≈ 0.17. Indicates a positive but relatively modest association between higher BMI and cardiovascular disease presence.</a:t>
            </a:r>
          </a:p>
        </p:txBody>
      </p:sp>
      <p:sp>
        <p:nvSpPr>
          <p:cNvPr name="AutoShape 4" id="4"/>
          <p:cNvSpPr/>
          <p:nvPr/>
        </p:nvSpPr>
        <p:spPr>
          <a:xfrm rot="0" flipH="false" flipV="false">
            <a:off x="43815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Cardio vs SBP</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r_pb ≈ 0.43. Shows a much stronger positive link, reinforcing blood pressure as a dominant risk factor over BMI.</a:t>
            </a:r>
          </a:p>
        </p:txBody>
      </p:sp>
      <p:sp>
        <p:nvSpPr>
          <p:cNvPr name="AutoShape 5" id="5"/>
          <p:cNvSpPr/>
          <p:nvPr/>
        </p:nvSpPr>
        <p:spPr>
          <a:xfrm rot="0" flipH="false" flipV="false">
            <a:off x="8128000" y="1524000"/>
            <a:ext cx="3429000" cy="4572000"/>
          </a:xfrm>
          <a:prstGeom prst="roundRect">
            <a:avLst>
              <a:gd name="adj" fmla="val 2962"/>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B0E64C"/>
                </a:solidFill>
                <a:latin typeface="Montserrat"/>
                <a:ea typeface="Montserrat"/>
                <a:cs typeface="Montserrat"/>
                <a:sym typeface="Montserrat"/>
              </a:rPr>
              <a:t>Active vs SBP</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CCCFCC"/>
                </a:solidFill>
                <a:latin typeface="Open Sans"/>
                <a:ea typeface="Open Sans"/>
                <a:cs typeface="Open Sans"/>
                <a:sym typeface="Open Sans"/>
              </a:rPr>
              <a:t>Correlation near zero. Suggests physical activity level alone does not show a simple linear relationship with systolic BP in this dataset.</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Correlations (Binary–Binary)</a:t>
            </a:r>
            <a:endParaRPr lang="en-US" sz="1100"/>
          </a:p>
        </p:txBody>
      </p:sp>
      <p:sp>
        <p:nvSpPr>
          <p:cNvPr name="AutoShape 3" id="3"/>
          <p:cNvSpPr/>
          <p:nvPr/>
        </p:nvSpPr>
        <p:spPr>
          <a:xfrm rot="0" flipH="false" flipV="false">
            <a:off x="635000" y="1524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200">
                <a:solidFill>
                  <a:srgbClr val="B0E64C"/>
                </a:solidFill>
                <a:latin typeface="Montserrat"/>
                <a:ea typeface="Montserrat"/>
                <a:cs typeface="Montserrat"/>
                <a:sym typeface="Montserrat"/>
              </a:rPr>
              <a:t>🚬 Smoke vs Cardio</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ϕ ≈ −0.02. Surprisingly, smoking shows a negligible direct correlation with cardio status in this simple binary view.</a:t>
            </a:r>
            <a:endParaRPr lang="en-US" sz="1100"/>
          </a:p>
        </p:txBody>
      </p:sp>
      <p:sp>
        <p:nvSpPr>
          <p:cNvPr name="AutoShape 4" id="4"/>
          <p:cNvSpPr/>
          <p:nvPr/>
        </p:nvSpPr>
        <p:spPr>
          <a:xfrm rot="0" flipH="false" flipV="false">
            <a:off x="635000" y="3175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200">
                <a:solidFill>
                  <a:srgbClr val="B0E64C"/>
                </a:solidFill>
                <a:latin typeface="Montserrat"/>
                <a:ea typeface="Montserrat"/>
                <a:cs typeface="Montserrat"/>
                <a:sym typeface="Montserrat"/>
              </a:rPr>
              <a:t>🏃 Active vs Cardio</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ϕ ≈ −0.04. Physical activity shows a very small inverse association, hinting at a slight protective effect but weak in isolation.</a:t>
            </a:r>
            <a:endParaRPr lang="en-US" sz="1100"/>
          </a:p>
        </p:txBody>
      </p:sp>
      <p:sp>
        <p:nvSpPr>
          <p:cNvPr name="AutoShape 5" id="5"/>
          <p:cNvSpPr/>
          <p:nvPr/>
        </p:nvSpPr>
        <p:spPr>
          <a:xfrm rot="0" flipH="false" flipV="false">
            <a:off x="635000" y="4826000"/>
            <a:ext cx="10922000" cy="1397000"/>
          </a:xfrm>
          <a:prstGeom prst="roundRect">
            <a:avLst>
              <a:gd name="adj" fmla="val 7272"/>
            </a:avLst>
          </a:prstGeom>
          <a:solidFill>
            <a:srgbClr val="37401C">
              <a:alpha val="100000"/>
            </a:srgbClr>
          </a:solidFill>
          <a:ln w="25400" cmpd="sng" cap="flat">
            <a:noFill/>
            <a:prstDash val="solid"/>
            <a:round/>
          </a:ln>
        </p:spPr>
        <p:txBody>
          <a:bodyPr anchor="ctr" rtlCol="false" anchorCtr="false" vert="horz" wrap="square" lIns="381000" rIns="381000" tIns="0" bIns="0">
            <a:normAutofit fontScale="100000" lnSpcReduction="0"/>
          </a:bodyPr>
          <a:lstStyle/>
          <a:p>
            <a:pPr algn="l" indent="0">
              <a:lnSpc>
                <a:spcPct val="125000"/>
              </a:lnSpc>
              <a:defRPr/>
            </a:pPr>
            <a:r>
              <a:rPr lang="en-US" b="true" i="false" strike="noStrike" u="none" sz="2200">
                <a:solidFill>
                  <a:srgbClr val="B0E64C"/>
                </a:solidFill>
                <a:latin typeface="Montserrat"/>
                <a:ea typeface="Montserrat"/>
                <a:cs typeface="Montserrat"/>
                <a:sym typeface="Montserrat"/>
              </a:rPr>
              <a:t>🍻 Smoke vs Alcohol</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800">
                <a:solidFill>
                  <a:srgbClr val="CCCFCC"/>
                </a:solidFill>
                <a:latin typeface="Open Sans"/>
                <a:ea typeface="Open Sans"/>
                <a:cs typeface="Open Sans"/>
                <a:sym typeface="Open Sans"/>
              </a:rPr>
              <a:t>ϕ ≈ 0.34. Moderate positive association indicates these behaviors often co-occur, a classic example of behavioral clustering.</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Joint Exposure Groups</a:t>
            </a:r>
            <a:endParaRPr lang="en-US" sz="1100"/>
          </a:p>
        </p:txBody>
      </p:sp>
      <p:sp>
        <p:nvSpPr>
          <p:cNvPr name="AutoShape 3" id="3"/>
          <p:cNvSpPr/>
          <p:nvPr/>
        </p:nvSpPr>
        <p:spPr>
          <a:xfrm rot="0" flipH="false" flipV="false">
            <a:off x="635000" y="1524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 Neither</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The baseline reference group: Patients who are neither obese (BMI &lt; 30) nor hypertensive (BP &lt; 140/90).</a:t>
            </a:r>
          </a:p>
        </p:txBody>
      </p:sp>
      <p:sp>
        <p:nvSpPr>
          <p:cNvPr name="AutoShape 4" id="4"/>
          <p:cNvSpPr/>
          <p:nvPr/>
        </p:nvSpPr>
        <p:spPr>
          <a:xfrm rot="0" flipH="false" flipV="false">
            <a:off x="6286500" y="1524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 Obese Only</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Patients classified as obese (BMI ≥ 30) but maintaining normal blood pressure levels.</a:t>
            </a:r>
          </a:p>
        </p:txBody>
      </p:sp>
      <p:sp>
        <p:nvSpPr>
          <p:cNvPr name="AutoShape 5" id="5"/>
          <p:cNvSpPr/>
          <p:nvPr/>
        </p:nvSpPr>
        <p:spPr>
          <a:xfrm rot="0" flipH="false" flipV="false">
            <a:off x="635000" y="4191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 Hypertensive Only</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Patients with high blood pressure (Hypertension) who are not classified as obese.</a:t>
            </a:r>
          </a:p>
        </p:txBody>
      </p:sp>
      <p:sp>
        <p:nvSpPr>
          <p:cNvPr name="AutoShape 6" id="6"/>
          <p:cNvSpPr/>
          <p:nvPr/>
        </p:nvSpPr>
        <p:spPr>
          <a:xfrm rot="0" flipH="false" flipV="false">
            <a:off x="6286500" y="4191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 Both</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The highest risk group: Patients exhibiting both obesity and hypertension simultaneously.</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52885" y="3175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Joint Exposure: CVD Prevalence</a:t>
            </a:r>
            <a:endParaRPr lang="en-US" sz="1100"/>
          </a:p>
        </p:txBody>
      </p:sp>
      <p:cxnSp>
        <p:nvCxnSpPr>
          <p:cNvPr name="Connector 3" id="3"/>
          <p:cNvCxnSpPr/>
          <p:nvPr/>
        </p:nvCxnSpPr>
        <p:spPr>
          <a:xfrm rot="-3997" flipH="false" flipV="false">
            <a:off x="634369" y="5708650"/>
            <a:ext cx="10922000" cy="12700"/>
          </a:xfrm>
          <a:prstGeom prst="straightConnector1">
            <a:avLst/>
          </a:prstGeom>
          <a:solidFill>
            <a:srgbClr val="DEE0E3">
              <a:alpha val="100000"/>
            </a:srgbClr>
          </a:solidFill>
          <a:ln w="25400" cmpd="sng" cap="flat">
            <a:solidFill>
              <a:srgbClr val="CCCFCC">
                <a:alpha val="100000"/>
              </a:srgbClr>
            </a:solidFill>
            <a:prstDash val="solid"/>
            <a:round/>
            <a:headEnd type="none" w="lg" len="lg"/>
            <a:tailEnd type="none" w="lg" len="lg"/>
          </a:ln>
        </p:spPr>
      </p:cxnSp>
      <p:sp>
        <p:nvSpPr>
          <p:cNvPr name="AutoShape 4" id="4"/>
          <p:cNvSpPr/>
          <p:nvPr/>
        </p:nvSpPr>
        <p:spPr>
          <a:xfrm rot="0" flipH="false" flipV="false">
            <a:off x="1270000" y="3886200"/>
            <a:ext cx="1778000" cy="1828800"/>
          </a:xfrm>
          <a:prstGeom prst="roundRect">
            <a:avLst>
              <a:gd name="adj" fmla="val 0"/>
            </a:avLst>
          </a:prstGeom>
          <a:solidFill>
            <a:srgbClr val="B0E64C">
              <a:alpha val="100000"/>
            </a:srgbClr>
          </a:solidFill>
          <a:ln w="25400" cmpd="sng" cap="flat">
            <a:noFill/>
            <a:prstDash val="solid"/>
            <a:round/>
          </a:ln>
        </p:spPr>
        <p:txBody>
          <a:bodyPr anchor="ctr" rtlCol="false" vert="horz" wrap="square" lIns="63500" rIns="63500" tIns="63500" bIns="63500">
            <a:normAutofit fontScale="100000" lnSpcReduction="0"/>
          </a:bodyPr>
          <a:lstStyle/>
          <a:p>
            <a:pPr algn="ctr">
              <a:defRPr/>
            </a:pPr>
            <a:endParaRPr/>
          </a:p>
        </p:txBody>
      </p:sp>
      <p:sp>
        <p:nvSpPr>
          <p:cNvPr name="AutoShape 5" id="5"/>
          <p:cNvSpPr/>
          <p:nvPr/>
        </p:nvSpPr>
        <p:spPr>
          <a:xfrm rot="0" flipH="false" flipV="false">
            <a:off x="1016000" y="3378200"/>
            <a:ext cx="2286000" cy="508000"/>
          </a:xfrm>
          <a:prstGeom prst="rect">
            <a:avLst/>
          </a:prstGeom>
          <a:noFill/>
          <a:ln w="12700" cmpd="sng" cap="flat">
            <a:noFill/>
            <a:prstDash val="solid"/>
            <a:round/>
          </a:ln>
        </p:spPr>
        <p:txBody>
          <a:bodyPr anchor="b" rtlCol="false" anchorCtr="false" vert="horz" wrap="square" lIns="0" rIns="0" tIns="0" bIns="0">
            <a:normAutofit fontScale="100000" lnSpcReduction="0"/>
          </a:bodyPr>
          <a:lstStyle/>
          <a:p>
            <a:pPr algn="ctr" indent="0">
              <a:lnSpc>
                <a:spcPct val="125000"/>
              </a:lnSpc>
              <a:defRPr/>
            </a:pPr>
            <a:r>
              <a:rPr lang="en-US" b="true" i="false" strike="noStrike" u="none" sz="2400">
                <a:solidFill>
                  <a:srgbClr val="DFE2DF"/>
                </a:solidFill>
                <a:latin typeface="Montserrat"/>
                <a:ea typeface="Montserrat"/>
                <a:cs typeface="Montserrat"/>
                <a:sym typeface="Montserrat"/>
              </a:rPr>
              <a:t>32.1%</a:t>
            </a:r>
            <a:endParaRPr lang="en-US" sz="1100"/>
          </a:p>
        </p:txBody>
      </p:sp>
      <p:sp>
        <p:nvSpPr>
          <p:cNvPr name="AutoShape 6" id="6"/>
          <p:cNvSpPr/>
          <p:nvPr/>
        </p:nvSpPr>
        <p:spPr>
          <a:xfrm rot="0" flipH="false" flipV="false">
            <a:off x="1016000" y="5842000"/>
            <a:ext cx="2286000" cy="508000"/>
          </a:xfrm>
          <a:prstGeom prst="rect">
            <a:avLst/>
          </a:prstGeom>
          <a:noFill/>
          <a:ln w="12700" cmpd="sng" cap="flat">
            <a:noFill/>
            <a:prstDash val="solid"/>
            <a:round/>
          </a:ln>
        </p:spPr>
        <p:txBody>
          <a:bodyPr anchor="t" rtlCol="false" anchorCtr="false" vert="horz" wrap="square" lIns="0" rIns="0" tIns="0" bIns="0">
            <a:normAutofit fontScale="100000" lnSpcReduction="0"/>
          </a:bodyPr>
          <a:lstStyle/>
          <a:p>
            <a:pPr algn="ctr" indent="0">
              <a:lnSpc>
                <a:spcPct val="125000"/>
              </a:lnSpc>
              <a:defRPr/>
            </a:pPr>
            <a:r>
              <a:rPr lang="en-US" b="false" i="false" strike="noStrike" u="none" sz="1600">
                <a:solidFill>
                  <a:srgbClr val="CCCFCC"/>
                </a:solidFill>
                <a:latin typeface="Open Sans"/>
                <a:ea typeface="Open Sans"/>
                <a:cs typeface="Open Sans"/>
                <a:sym typeface="Open Sans"/>
              </a:rPr>
              <a:t>Neither</a:t>
            </a:r>
            <a:endParaRPr lang="en-US" sz="1100"/>
          </a:p>
        </p:txBody>
      </p:sp>
      <p:sp>
        <p:nvSpPr>
          <p:cNvPr name="AutoShape 7" id="7"/>
          <p:cNvSpPr/>
          <p:nvPr/>
        </p:nvSpPr>
        <p:spPr>
          <a:xfrm rot="0" flipH="false" flipV="false">
            <a:off x="3937000" y="3136900"/>
            <a:ext cx="1778000" cy="2578100"/>
          </a:xfrm>
          <a:prstGeom prst="roundRect">
            <a:avLst>
              <a:gd name="adj" fmla="val 0"/>
            </a:avLst>
          </a:prstGeom>
          <a:solidFill>
            <a:srgbClr val="B0E64C">
              <a:alpha val="100000"/>
            </a:srgbClr>
          </a:solidFill>
          <a:ln w="25400" cmpd="sng" cap="flat">
            <a:noFill/>
            <a:prstDash val="solid"/>
            <a:round/>
          </a:ln>
        </p:spPr>
        <p:txBody>
          <a:bodyPr anchor="ctr" rtlCol="false" vert="horz" wrap="square" lIns="63500" rIns="63500" tIns="63500" bIns="63500">
            <a:normAutofit fontScale="100000" lnSpcReduction="0"/>
          </a:bodyPr>
          <a:lstStyle/>
          <a:p>
            <a:pPr algn="ctr">
              <a:defRPr/>
            </a:pPr>
            <a:endParaRPr/>
          </a:p>
        </p:txBody>
      </p:sp>
      <p:sp>
        <p:nvSpPr>
          <p:cNvPr name="AutoShape 8" id="8"/>
          <p:cNvSpPr/>
          <p:nvPr/>
        </p:nvSpPr>
        <p:spPr>
          <a:xfrm rot="0" flipH="false" flipV="false">
            <a:off x="3683000" y="2628900"/>
            <a:ext cx="2286000" cy="508000"/>
          </a:xfrm>
          <a:prstGeom prst="rect">
            <a:avLst/>
          </a:prstGeom>
          <a:noFill/>
          <a:ln w="12700" cmpd="sng" cap="flat">
            <a:noFill/>
            <a:prstDash val="solid"/>
            <a:round/>
          </a:ln>
        </p:spPr>
        <p:txBody>
          <a:bodyPr anchor="b" rtlCol="false" anchorCtr="false" vert="horz" wrap="square" lIns="0" rIns="0" tIns="0" bIns="0">
            <a:normAutofit fontScale="100000" lnSpcReduction="0"/>
          </a:bodyPr>
          <a:lstStyle/>
          <a:p>
            <a:pPr algn="ctr" indent="0">
              <a:lnSpc>
                <a:spcPct val="125000"/>
              </a:lnSpc>
              <a:defRPr/>
            </a:pPr>
            <a:r>
              <a:rPr lang="en-US" b="true" i="false" strike="noStrike" u="none" sz="2400">
                <a:solidFill>
                  <a:srgbClr val="DFE2DF"/>
                </a:solidFill>
                <a:latin typeface="Montserrat"/>
                <a:ea typeface="Montserrat"/>
                <a:cs typeface="Montserrat"/>
                <a:sym typeface="Montserrat"/>
              </a:rPr>
              <a:t>44.9%</a:t>
            </a:r>
            <a:endParaRPr lang="en-US" sz="1100"/>
          </a:p>
        </p:txBody>
      </p:sp>
      <p:sp>
        <p:nvSpPr>
          <p:cNvPr name="AutoShape 9" id="9"/>
          <p:cNvSpPr/>
          <p:nvPr/>
        </p:nvSpPr>
        <p:spPr>
          <a:xfrm rot="0" flipH="false" flipV="false">
            <a:off x="3683000" y="5842000"/>
            <a:ext cx="2286000" cy="508000"/>
          </a:xfrm>
          <a:prstGeom prst="rect">
            <a:avLst/>
          </a:prstGeom>
          <a:noFill/>
          <a:ln w="12700" cmpd="sng" cap="flat">
            <a:noFill/>
            <a:prstDash val="solid"/>
            <a:round/>
          </a:ln>
        </p:spPr>
        <p:txBody>
          <a:bodyPr anchor="t" rtlCol="false" anchorCtr="false" vert="horz" wrap="square" lIns="0" rIns="0" tIns="0" bIns="0">
            <a:normAutofit fontScale="100000" lnSpcReduction="0"/>
          </a:bodyPr>
          <a:lstStyle/>
          <a:p>
            <a:pPr algn="ctr" indent="0">
              <a:lnSpc>
                <a:spcPct val="125000"/>
              </a:lnSpc>
              <a:defRPr/>
            </a:pPr>
            <a:r>
              <a:rPr lang="en-US" b="false" i="false" strike="noStrike" u="none" sz="1600">
                <a:solidFill>
                  <a:srgbClr val="CCCFCC"/>
                </a:solidFill>
                <a:latin typeface="Open Sans"/>
                <a:ea typeface="Open Sans"/>
                <a:cs typeface="Open Sans"/>
                <a:sym typeface="Open Sans"/>
              </a:rPr>
              <a:t>Obese Only</a:t>
            </a:r>
            <a:endParaRPr lang="en-US" sz="1100"/>
          </a:p>
        </p:txBody>
      </p:sp>
      <p:sp>
        <p:nvSpPr>
          <p:cNvPr name="AutoShape 10" id="10"/>
          <p:cNvSpPr/>
          <p:nvPr/>
        </p:nvSpPr>
        <p:spPr>
          <a:xfrm rot="0" flipH="false" flipV="false">
            <a:off x="6604000" y="1583127"/>
            <a:ext cx="1778000" cy="4131873"/>
          </a:xfrm>
          <a:prstGeom prst="roundRect">
            <a:avLst>
              <a:gd name="adj" fmla="val 0"/>
            </a:avLst>
          </a:prstGeom>
          <a:solidFill>
            <a:srgbClr val="B0E64C">
              <a:alpha val="100000"/>
            </a:srgbClr>
          </a:solidFill>
          <a:ln w="25400" cmpd="sng" cap="flat">
            <a:noFill/>
            <a:prstDash val="solid"/>
            <a:round/>
          </a:ln>
        </p:spPr>
        <p:txBody>
          <a:bodyPr anchor="ctr" rtlCol="false" vert="horz" wrap="square" lIns="63500" rIns="63500" tIns="63500" bIns="63500">
            <a:normAutofit fontScale="100000" lnSpcReduction="0"/>
          </a:bodyPr>
          <a:lstStyle/>
          <a:p>
            <a:pPr algn="ctr">
              <a:defRPr/>
            </a:pPr>
            <a:endParaRPr/>
          </a:p>
        </p:txBody>
      </p:sp>
      <p:sp>
        <p:nvSpPr>
          <p:cNvPr name="AutoShape 11" id="11"/>
          <p:cNvSpPr/>
          <p:nvPr/>
        </p:nvSpPr>
        <p:spPr>
          <a:xfrm rot="0" flipH="false" flipV="false">
            <a:off x="6350000" y="1079500"/>
            <a:ext cx="2286000" cy="508000"/>
          </a:xfrm>
          <a:prstGeom prst="rect">
            <a:avLst/>
          </a:prstGeom>
          <a:noFill/>
          <a:ln w="12700" cmpd="sng" cap="flat">
            <a:noFill/>
            <a:prstDash val="solid"/>
            <a:round/>
          </a:ln>
        </p:spPr>
        <p:txBody>
          <a:bodyPr anchor="b" rtlCol="false" anchorCtr="false" vert="horz" wrap="square" lIns="0" rIns="0" tIns="0" bIns="0">
            <a:normAutofit fontScale="100000" lnSpcReduction="0"/>
          </a:bodyPr>
          <a:lstStyle/>
          <a:p>
            <a:pPr algn="ctr" indent="0">
              <a:lnSpc>
                <a:spcPct val="125000"/>
              </a:lnSpc>
              <a:defRPr/>
            </a:pPr>
            <a:r>
              <a:rPr lang="en-US" b="true" i="false" strike="noStrike" u="none" sz="2400">
                <a:solidFill>
                  <a:srgbClr val="DFE2DF"/>
                </a:solidFill>
                <a:latin typeface="Montserrat"/>
                <a:ea typeface="Montserrat"/>
                <a:cs typeface="Montserrat"/>
                <a:sym typeface="Montserrat"/>
              </a:rPr>
              <a:t>77.0%</a:t>
            </a:r>
            <a:endParaRPr lang="en-US" sz="1100"/>
          </a:p>
        </p:txBody>
      </p:sp>
      <p:sp>
        <p:nvSpPr>
          <p:cNvPr name="AutoShape 12" id="12"/>
          <p:cNvSpPr/>
          <p:nvPr/>
        </p:nvSpPr>
        <p:spPr>
          <a:xfrm rot="0" flipH="false" flipV="false">
            <a:off x="6350000" y="5842000"/>
            <a:ext cx="2286000" cy="508000"/>
          </a:xfrm>
          <a:prstGeom prst="rect">
            <a:avLst/>
          </a:prstGeom>
          <a:noFill/>
          <a:ln w="12700" cmpd="sng" cap="flat">
            <a:noFill/>
            <a:prstDash val="solid"/>
            <a:round/>
          </a:ln>
        </p:spPr>
        <p:txBody>
          <a:bodyPr anchor="t" rtlCol="false" anchorCtr="false" vert="horz" wrap="square" lIns="0" rIns="0" tIns="0" bIns="0">
            <a:normAutofit fontScale="100000" lnSpcReduction="0"/>
          </a:bodyPr>
          <a:lstStyle/>
          <a:p>
            <a:pPr algn="ctr" indent="0">
              <a:lnSpc>
                <a:spcPct val="125000"/>
              </a:lnSpc>
              <a:defRPr/>
            </a:pPr>
            <a:r>
              <a:rPr lang="en-US" b="false" i="false" strike="noStrike" u="none" sz="1600">
                <a:solidFill>
                  <a:srgbClr val="CCCFCC"/>
                </a:solidFill>
                <a:latin typeface="Open Sans"/>
                <a:ea typeface="Open Sans"/>
                <a:cs typeface="Open Sans"/>
                <a:sym typeface="Open Sans"/>
              </a:rPr>
              <a:t>Hypertensive</a:t>
            </a:r>
            <a:endParaRPr lang="en-US" sz="1100"/>
          </a:p>
        </p:txBody>
      </p:sp>
      <p:sp>
        <p:nvSpPr>
          <p:cNvPr name="AutoShape 13" id="13"/>
          <p:cNvSpPr/>
          <p:nvPr/>
        </p:nvSpPr>
        <p:spPr>
          <a:xfrm rot="0" flipH="false" flipV="false">
            <a:off x="9271000" y="1450091"/>
            <a:ext cx="1778000" cy="4264909"/>
          </a:xfrm>
          <a:prstGeom prst="roundRect">
            <a:avLst>
              <a:gd name="adj" fmla="val 0"/>
            </a:avLst>
          </a:prstGeom>
          <a:solidFill>
            <a:srgbClr val="B0E64C">
              <a:alpha val="100000"/>
            </a:srgbClr>
          </a:solidFill>
          <a:ln w="25400" cmpd="sng" cap="flat">
            <a:noFill/>
            <a:prstDash val="solid"/>
            <a:round/>
          </a:ln>
        </p:spPr>
        <p:txBody>
          <a:bodyPr anchor="ctr" rtlCol="false" vert="horz" wrap="square" lIns="63500" rIns="63500" tIns="63500" bIns="63500">
            <a:normAutofit fontScale="100000" lnSpcReduction="0"/>
          </a:bodyPr>
          <a:lstStyle/>
          <a:p>
            <a:pPr algn="ctr">
              <a:defRPr/>
            </a:pPr>
            <a:endParaRPr/>
          </a:p>
        </p:txBody>
      </p:sp>
      <p:sp>
        <p:nvSpPr>
          <p:cNvPr name="AutoShape 14" id="14"/>
          <p:cNvSpPr/>
          <p:nvPr/>
        </p:nvSpPr>
        <p:spPr>
          <a:xfrm rot="0" flipH="false" flipV="false">
            <a:off x="9017000" y="952500"/>
            <a:ext cx="2286000" cy="508000"/>
          </a:xfrm>
          <a:prstGeom prst="rect">
            <a:avLst/>
          </a:prstGeom>
          <a:noFill/>
          <a:ln w="12700" cmpd="sng" cap="flat">
            <a:noFill/>
            <a:prstDash val="solid"/>
            <a:round/>
          </a:ln>
        </p:spPr>
        <p:txBody>
          <a:bodyPr anchor="b" rtlCol="false" anchorCtr="false" vert="horz" wrap="square" lIns="0" rIns="0" tIns="0" bIns="0">
            <a:normAutofit fontScale="100000" lnSpcReduction="0"/>
          </a:bodyPr>
          <a:lstStyle/>
          <a:p>
            <a:pPr algn="ctr" indent="0">
              <a:lnSpc>
                <a:spcPct val="125000"/>
              </a:lnSpc>
              <a:defRPr/>
            </a:pPr>
            <a:r>
              <a:rPr lang="en-US" b="true" i="false" strike="noStrike" u="none" sz="2400">
                <a:solidFill>
                  <a:srgbClr val="DFE2DF"/>
                </a:solidFill>
                <a:latin typeface="Montserrat"/>
                <a:ea typeface="Montserrat"/>
                <a:cs typeface="Montserrat"/>
                <a:sym typeface="Montserrat"/>
              </a:rPr>
              <a:t>79.6%</a:t>
            </a:r>
            <a:endParaRPr lang="en-US" sz="1100"/>
          </a:p>
        </p:txBody>
      </p:sp>
      <p:sp>
        <p:nvSpPr>
          <p:cNvPr name="AutoShape 15" id="15"/>
          <p:cNvSpPr/>
          <p:nvPr/>
        </p:nvSpPr>
        <p:spPr>
          <a:xfrm rot="0" flipH="false" flipV="false">
            <a:off x="9017000" y="5842000"/>
            <a:ext cx="2286000" cy="508000"/>
          </a:xfrm>
          <a:prstGeom prst="rect">
            <a:avLst/>
          </a:prstGeom>
          <a:noFill/>
          <a:ln w="12700" cmpd="sng" cap="flat">
            <a:noFill/>
            <a:prstDash val="solid"/>
            <a:round/>
          </a:ln>
        </p:spPr>
        <p:txBody>
          <a:bodyPr anchor="t" rtlCol="false" anchorCtr="false" vert="horz" wrap="square" lIns="0" rIns="0" tIns="0" bIns="0">
            <a:normAutofit fontScale="100000" lnSpcReduction="0"/>
          </a:bodyPr>
          <a:lstStyle/>
          <a:p>
            <a:pPr algn="ctr" indent="0">
              <a:lnSpc>
                <a:spcPct val="125000"/>
              </a:lnSpc>
              <a:defRPr/>
            </a:pPr>
            <a:r>
              <a:rPr lang="en-US" b="false" i="false" strike="noStrike" u="none" sz="1600">
                <a:solidFill>
                  <a:srgbClr val="CCCFCC"/>
                </a:solidFill>
                <a:latin typeface="Open Sans"/>
                <a:ea typeface="Open Sans"/>
                <a:cs typeface="Open Sans"/>
                <a:sym typeface="Open Sans"/>
              </a:rPr>
              <a:t>Both</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Joint Exposure: RR, OR, Risk Difference</a:t>
            </a:r>
            <a:endParaRPr lang="en-US" sz="1100"/>
          </a:p>
        </p:txBody>
      </p:sp>
      <p:sp>
        <p:nvSpPr>
          <p:cNvPr name="AutoShape 3" id="3"/>
          <p:cNvSpPr/>
          <p:nvPr/>
        </p:nvSpPr>
        <p:spPr>
          <a:xfrm rot="0" flipH="false" flipV="false">
            <a:off x="635000" y="1524000"/>
            <a:ext cx="3429000" cy="4572000"/>
          </a:xfrm>
          <a:prstGeom prst="roundRect">
            <a:avLst>
              <a:gd name="adj" fmla="val 2962"/>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ctr" indent="0">
              <a:lnSpc>
                <a:spcPct val="125000"/>
              </a:lnSpc>
              <a:defRPr/>
            </a:pPr>
            <a:r>
              <a:rPr lang="en-US" b="true" i="false" strike="noStrike" u="none" sz="2000">
                <a:solidFill>
                  <a:srgbClr val="B0E64C"/>
                </a:solidFill>
                <a:latin typeface="Montserrat"/>
                <a:ea typeface="Montserrat"/>
                <a:cs typeface="Montserrat"/>
                <a:sym typeface="Montserrat"/>
              </a:rPr>
              <a:t>Obese Only</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600">
                <a:solidFill>
                  <a:srgbClr val="CCCFCC"/>
                </a:solidFill>
                <a:latin typeface="Open Sans"/>
                <a:ea typeface="Open Sans"/>
                <a:cs typeface="Open Sans"/>
                <a:sym typeface="Open Sans"/>
              </a:rPr>
              <a:t>vs Neither</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true" i="false" strike="noStrike" u="none" sz="2400">
                <a:solidFill>
                  <a:srgbClr val="DFE2DF"/>
                </a:solidFill>
                <a:latin typeface="Montserrat"/>
                <a:ea typeface="Montserrat"/>
                <a:cs typeface="Montserrat"/>
                <a:sym typeface="Montserrat"/>
              </a:rPr>
              <a:t>RR ≈ 1.40</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600">
                <a:solidFill>
                  <a:srgbClr val="CCCFCC"/>
                </a:solidFill>
                <a:latin typeface="Open Sans"/>
                <a:ea typeface="Open Sans"/>
                <a:cs typeface="Open Sans"/>
                <a:sym typeface="Open Sans"/>
              </a:rPr>
              <a:t>OR ≈ 1.73</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600">
                <a:solidFill>
                  <a:srgbClr val="CCCFCC"/>
                </a:solidFill>
                <a:latin typeface="Open Sans"/>
                <a:ea typeface="Open Sans"/>
                <a:cs typeface="Open Sans"/>
                <a:sym typeface="Open Sans"/>
              </a:rPr>
              <a:t>RD ≈ 0.13</a:t>
            </a:r>
          </a:p>
        </p:txBody>
      </p:sp>
      <p:sp>
        <p:nvSpPr>
          <p:cNvPr name="AutoShape 4" id="4"/>
          <p:cNvSpPr/>
          <p:nvPr/>
        </p:nvSpPr>
        <p:spPr>
          <a:xfrm rot="0" flipH="false" flipV="false">
            <a:off x="4381500" y="1524000"/>
            <a:ext cx="3429000" cy="4572000"/>
          </a:xfrm>
          <a:prstGeom prst="roundRect">
            <a:avLst>
              <a:gd name="adj" fmla="val 2962"/>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ctr" indent="0">
              <a:lnSpc>
                <a:spcPct val="125000"/>
              </a:lnSpc>
              <a:defRPr/>
            </a:pPr>
            <a:r>
              <a:rPr lang="en-US" b="true" i="false" strike="noStrike" u="none" sz="2000">
                <a:solidFill>
                  <a:srgbClr val="B0E64C"/>
                </a:solidFill>
                <a:latin typeface="Montserrat"/>
                <a:ea typeface="Montserrat"/>
                <a:cs typeface="Montserrat"/>
                <a:sym typeface="Montserrat"/>
              </a:rPr>
              <a:t>Hypertensive Only</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600">
                <a:solidFill>
                  <a:srgbClr val="CCCFCC"/>
                </a:solidFill>
                <a:latin typeface="Open Sans"/>
                <a:ea typeface="Open Sans"/>
                <a:cs typeface="Open Sans"/>
                <a:sym typeface="Open Sans"/>
              </a:rPr>
              <a:t>vs Neither</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true" i="false" strike="noStrike" u="none" sz="2400">
                <a:solidFill>
                  <a:srgbClr val="DFE2DF"/>
                </a:solidFill>
                <a:latin typeface="Montserrat"/>
                <a:ea typeface="Montserrat"/>
                <a:cs typeface="Montserrat"/>
                <a:sym typeface="Montserrat"/>
              </a:rPr>
              <a:t>RR ≈ 2.40</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600">
                <a:solidFill>
                  <a:srgbClr val="CCCFCC"/>
                </a:solidFill>
                <a:latin typeface="Open Sans"/>
                <a:ea typeface="Open Sans"/>
                <a:cs typeface="Open Sans"/>
                <a:sym typeface="Open Sans"/>
              </a:rPr>
              <a:t>OR ≈ 7.11</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600">
                <a:solidFill>
                  <a:srgbClr val="CCCFCC"/>
                </a:solidFill>
                <a:latin typeface="Open Sans"/>
                <a:ea typeface="Open Sans"/>
                <a:cs typeface="Open Sans"/>
                <a:sym typeface="Open Sans"/>
              </a:rPr>
              <a:t>RD ≈ 0.45</a:t>
            </a:r>
          </a:p>
        </p:txBody>
      </p:sp>
      <p:sp>
        <p:nvSpPr>
          <p:cNvPr name="AutoShape 5" id="5"/>
          <p:cNvSpPr/>
          <p:nvPr/>
        </p:nvSpPr>
        <p:spPr>
          <a:xfrm rot="0" flipH="false" flipV="false">
            <a:off x="8128000" y="1524000"/>
            <a:ext cx="3429000" cy="4572000"/>
          </a:xfrm>
          <a:prstGeom prst="roundRect">
            <a:avLst>
              <a:gd name="adj" fmla="val 2962"/>
            </a:avLst>
          </a:prstGeom>
          <a:solidFill>
            <a:srgbClr val="37401C">
              <a:alpha val="100000"/>
            </a:srgbClr>
          </a:solidFill>
          <a:ln w="25400" cmpd="sng" cap="flat">
            <a:noFill/>
            <a:prstDash val="solid"/>
            <a:round/>
          </a:ln>
        </p:spPr>
        <p:txBody>
          <a:bodyPr anchor="ctr" rtlCol="false" anchorCtr="false" vert="horz" wrap="square" lIns="254000" rIns="254000" tIns="0" bIns="0">
            <a:normAutofit fontScale="100000" lnSpcReduction="0"/>
          </a:bodyPr>
          <a:lstStyle/>
          <a:p>
            <a:pPr algn="ctr" indent="0">
              <a:lnSpc>
                <a:spcPct val="125000"/>
              </a:lnSpc>
              <a:defRPr/>
            </a:pPr>
            <a:r>
              <a:rPr lang="en-US" b="true" i="false" strike="noStrike" u="none" sz="2000">
                <a:solidFill>
                  <a:srgbClr val="B0E64C"/>
                </a:solidFill>
                <a:latin typeface="Montserrat"/>
                <a:ea typeface="Montserrat"/>
                <a:cs typeface="Montserrat"/>
                <a:sym typeface="Montserrat"/>
              </a:rPr>
              <a:t>Both</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600">
                <a:solidFill>
                  <a:srgbClr val="CCCFCC"/>
                </a:solidFill>
                <a:latin typeface="Open Sans"/>
                <a:ea typeface="Open Sans"/>
                <a:cs typeface="Open Sans"/>
                <a:sym typeface="Open Sans"/>
              </a:rPr>
              <a:t>vs Neither</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true" i="false" strike="noStrike" u="none" sz="2400">
                <a:solidFill>
                  <a:srgbClr val="DFE2DF"/>
                </a:solidFill>
                <a:latin typeface="Montserrat"/>
                <a:ea typeface="Montserrat"/>
                <a:cs typeface="Montserrat"/>
                <a:sym typeface="Montserrat"/>
              </a:rPr>
              <a:t>RR ≈ 2.48</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600">
                <a:solidFill>
                  <a:srgbClr val="CCCFCC"/>
                </a:solidFill>
                <a:latin typeface="Open Sans"/>
                <a:ea typeface="Open Sans"/>
                <a:cs typeface="Open Sans"/>
                <a:sym typeface="Open Sans"/>
              </a:rPr>
              <a:t>OR ≈ 8.26</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600">
                <a:solidFill>
                  <a:srgbClr val="CCCFCC"/>
                </a:solidFill>
                <a:latin typeface="Open Sans"/>
                <a:ea typeface="Open Sans"/>
                <a:cs typeface="Open Sans"/>
                <a:sym typeface="Open Sans"/>
              </a:rPr>
              <a:t>RD ≈ 0.48</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Interpretation and Implications</a:t>
            </a:r>
            <a:endParaRPr lang="en-US" sz="1100"/>
          </a:p>
        </p:txBody>
      </p:sp>
      <p:sp>
        <p:nvSpPr>
          <p:cNvPr name="AutoShape 3" id="3"/>
          <p:cNvSpPr/>
          <p:nvPr/>
        </p:nvSpPr>
        <p:spPr>
          <a:xfrm rot="0" flipH="false" flipV="false">
            <a:off x="635000" y="1524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Key Driver</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Systolic Blood Pressure exhibits a consistently stronger association with CVD status than Body Mass Index across all metrics.</a:t>
            </a:r>
          </a:p>
        </p:txBody>
      </p:sp>
      <p:sp>
        <p:nvSpPr>
          <p:cNvPr name="AutoShape 4" id="4"/>
          <p:cNvSpPr/>
          <p:nvPr/>
        </p:nvSpPr>
        <p:spPr>
          <a:xfrm rot="0" flipH="false" flipV="false">
            <a:off x="6286500" y="1524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Hypertension Impact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Hypertension alone acts as a critical signal, linked to very high CVD prevalence even without obesity.</a:t>
            </a:r>
          </a:p>
        </p:txBody>
      </p:sp>
      <p:sp>
        <p:nvSpPr>
          <p:cNvPr name="AutoShape 5" id="5"/>
          <p:cNvSpPr/>
          <p:nvPr/>
        </p:nvSpPr>
        <p:spPr>
          <a:xfrm rot="0" flipH="false" flipV="false">
            <a:off x="635000" y="4191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Obesity Role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Obesity adds incremental risk, worsening outcomes, but its independent effect is smaller relative to blood pressure.</a:t>
            </a:r>
          </a:p>
        </p:txBody>
      </p:sp>
      <p:sp>
        <p:nvSpPr>
          <p:cNvPr name="AutoShape 6" id="6"/>
          <p:cNvSpPr/>
          <p:nvPr/>
        </p:nvSpPr>
        <p:spPr>
          <a:xfrm rot="0" flipH="false" flipV="false">
            <a:off x="6286500" y="4191000"/>
            <a:ext cx="5270500" cy="2413000"/>
          </a:xfrm>
          <a:prstGeom prst="roundRect">
            <a:avLst>
              <a:gd name="adj" fmla="val 4210"/>
            </a:avLst>
          </a:prstGeom>
          <a:solidFill>
            <a:srgbClr val="37401C">
              <a:alpha val="100000"/>
            </a:srgbClr>
          </a:solidFill>
          <a:ln w="25400" cmpd="sng" cap="flat">
            <a:noFill/>
            <a:prstDash val="solid"/>
            <a:round/>
          </a:ln>
        </p:spPr>
        <p:txBody>
          <a:bodyPr anchor="t" rtlCol="false" anchorCtr="false" vert="horz" wrap="square" lIns="254000" rIns="254000" tIns="254000" bIns="0">
            <a:normAutofit fontScale="100000" lnSpcReduction="0"/>
          </a:bodyPr>
          <a:lstStyle/>
          <a:p>
            <a:pPr algn="l" indent="0">
              <a:lnSpc>
                <a:spcPct val="125000"/>
              </a:lnSpc>
              <a:defRPr/>
            </a:pPr>
            <a:r>
              <a:rPr lang="en-US" b="true" i="false" strike="noStrike" u="none" sz="2000">
                <a:solidFill>
                  <a:srgbClr val="B0E64C"/>
                </a:solidFill>
                <a:latin typeface="Montserrat"/>
                <a:ea typeface="Montserrat"/>
                <a:cs typeface="Montserrat"/>
                <a:sym typeface="Montserrat"/>
              </a:rPr>
              <a:t>Clinical Strategy</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CCCFCC"/>
                </a:solidFill>
                <a:latin typeface="Open Sans"/>
                <a:ea typeface="Open Sans"/>
                <a:cs typeface="Open Sans"/>
                <a:sym typeface="Open Sans"/>
              </a:rPr>
              <a:t>Supports a BP-focused risk stratification strategy, integrated with holistic management of other cardiometabolic factors.</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20202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508000"/>
            <a:ext cx="10922000" cy="635000"/>
          </a:xfrm>
          <a:prstGeom prst="rect">
            <a:avLst/>
          </a:prstGeom>
          <a:noFill/>
          <a:ln w="12700" cmpd="sng" cap="flat">
            <a:noFill/>
            <a:prstDash val="solid"/>
            <a:round/>
          </a:ln>
        </p:spPr>
        <p:txBody>
          <a:bodyPr anchor="t" rtlCol="false" anchorCtr="false" vert="horz" wrap="square" lIns="0" rIns="0" tIns="0" bIns="0">
            <a:normAutofit fontScale="100000" lnSpcReduction="20000"/>
          </a:bodyPr>
          <a:lstStyle/>
          <a:p>
            <a:pPr algn="l" indent="0">
              <a:lnSpc>
                <a:spcPct val="125000"/>
              </a:lnSpc>
              <a:defRPr/>
            </a:pPr>
            <a:r>
              <a:rPr lang="en-US" b="true" i="false" strike="noStrike" u="none" sz="3600">
                <a:solidFill>
                  <a:srgbClr val="DFE2DF"/>
                </a:solidFill>
                <a:latin typeface="Montserrat"/>
                <a:ea typeface="Montserrat"/>
                <a:cs typeface="Montserrat"/>
                <a:sym typeface="Montserrat"/>
              </a:rPr>
              <a:t>Applications and Limitations</a:t>
            </a:r>
            <a:endParaRPr lang="en-US" sz="1100"/>
          </a:p>
        </p:txBody>
      </p:sp>
      <p:sp>
        <p:nvSpPr>
          <p:cNvPr name="AutoShape 3" id="3"/>
          <p:cNvSpPr/>
          <p:nvPr/>
        </p:nvSpPr>
        <p:spPr>
          <a:xfrm rot="0" flipH="false" flipV="false">
            <a:off x="635000" y="1524000"/>
            <a:ext cx="5270500" cy="5080000"/>
          </a:xfrm>
          <a:prstGeom prst="roundRect">
            <a:avLst>
              <a:gd name="adj" fmla="val 2000"/>
            </a:avLst>
          </a:prstGeom>
          <a:solidFill>
            <a:srgbClr val="37401C">
              <a:alpha val="100000"/>
            </a:srgbClr>
          </a:solidFill>
          <a:ln w="25400" cmpd="sng" cap="flat">
            <a:noFill/>
            <a:prstDash val="solid"/>
            <a:round/>
          </a:ln>
        </p:spPr>
        <p:txBody>
          <a:bodyPr anchor="t" rtlCol="false" anchorCtr="false" vert="horz" wrap="square" lIns="381000" rIns="381000" tIns="381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400">
                <a:solidFill>
                  <a:srgbClr val="B0E64C"/>
                </a:solidFill>
                <a:latin typeface="Montserrat"/>
                <a:ea typeface="Montserrat"/>
                <a:cs typeface="Montserrat"/>
                <a:sym typeface="Montserrat"/>
              </a:rPr>
              <a:t>Applications</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800">
                <a:solidFill>
                  <a:srgbClr val="DFE2DF"/>
                </a:solidFill>
                <a:latin typeface="Montserrat"/>
                <a:ea typeface="Montserrat"/>
                <a:cs typeface="Montserrat"/>
                <a:sym typeface="Montserrat"/>
              </a:rPr>
              <a:t>Targeted Prioritization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CCCFCC"/>
                </a:solidFill>
                <a:latin typeface="Open Sans"/>
                <a:ea typeface="Open Sans"/>
                <a:cs typeface="Open Sans"/>
                <a:sym typeface="Open Sans"/>
              </a:rPr>
              <a:t>Prioritize hypertensive patients—especially those also obese—for immediate follow-up and preventive intervention.</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800">
                <a:solidFill>
                  <a:srgbClr val="DFE2DF"/>
                </a:solidFill>
                <a:latin typeface="Montserrat"/>
                <a:ea typeface="Montserrat"/>
                <a:cs typeface="Montserrat"/>
                <a:sym typeface="Montserrat"/>
              </a:rPr>
              <a:t>Integrated Care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CCCFCC"/>
                </a:solidFill>
                <a:latin typeface="Open Sans"/>
                <a:ea typeface="Open Sans"/>
                <a:cs typeface="Open Sans"/>
                <a:sym typeface="Open Sans"/>
              </a:rPr>
              <a:t>Combine rigorous blood pressure control with weight management and cholesterol monitoring for optimal outcomes.</a:t>
            </a:r>
          </a:p>
        </p:txBody>
      </p:sp>
      <p:sp>
        <p:nvSpPr>
          <p:cNvPr name="AutoShape 4" id="4"/>
          <p:cNvSpPr/>
          <p:nvPr/>
        </p:nvSpPr>
        <p:spPr>
          <a:xfrm rot="0" flipH="false" flipV="false">
            <a:off x="6286500" y="1524000"/>
            <a:ext cx="5270500" cy="5080000"/>
          </a:xfrm>
          <a:prstGeom prst="roundRect">
            <a:avLst>
              <a:gd name="adj" fmla="val 2000"/>
            </a:avLst>
          </a:prstGeom>
          <a:solidFill>
            <a:srgbClr val="37401C">
              <a:alpha val="100000"/>
            </a:srgbClr>
          </a:solidFill>
          <a:ln w="25400" cmpd="sng" cap="flat">
            <a:noFill/>
            <a:prstDash val="solid"/>
            <a:round/>
          </a:ln>
        </p:spPr>
        <p:txBody>
          <a:bodyPr anchor="t" rtlCol="false" anchorCtr="false" vert="horz" wrap="square" lIns="381000" rIns="381000" tIns="381000" bIns="0">
            <a:normAutofit fontScale="100000" lnSpcReduction="0"/>
          </a:bodyPr>
          <a:lstStyle/>
          <a:p>
            <a:pPr algn="ctr" indent="0">
              <a:lnSpc>
                <a:spcPct val="125000"/>
              </a:lnSpc>
              <a:defRPr/>
            </a:pPr>
            <a:r>
              <a:rPr lang="en-US" b="false" i="false" strike="noStrike" u="none" sz="4200">
                <a:solidFill>
                  <a:srgbClr val="1F2329"/>
                </a:solidFill>
                <a:latin typeface="Montserrat"/>
                <a:ea typeface="Montserrat"/>
                <a:cs typeface="Montserrat"/>
                <a:sym typeface="Montserrat"/>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400">
                <a:solidFill>
                  <a:srgbClr val="B0E64C"/>
                </a:solidFill>
                <a:latin typeface="Montserrat"/>
                <a:ea typeface="Montserrat"/>
                <a:cs typeface="Montserrat"/>
                <a:sym typeface="Montserrat"/>
              </a:rPr>
              <a:t>Limitations</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800">
                <a:solidFill>
                  <a:srgbClr val="DFE2DF"/>
                </a:solidFill>
                <a:latin typeface="Montserrat"/>
                <a:ea typeface="Montserrat"/>
                <a:cs typeface="Montserrat"/>
                <a:sym typeface="Montserrat"/>
              </a:rPr>
              <a:t>Study Design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CCCFCC"/>
                </a:solidFill>
                <a:latin typeface="Open Sans"/>
                <a:ea typeface="Open Sans"/>
                <a:cs typeface="Open Sans"/>
                <a:sym typeface="Open Sans"/>
              </a:rPr>
              <a:t>Cross-sectional nature prevents causal inference; results reflect associations at a single point in time.</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800">
                <a:solidFill>
                  <a:srgbClr val="DFE2DF"/>
                </a:solidFill>
                <a:latin typeface="Montserrat"/>
                <a:ea typeface="Montserrat"/>
                <a:cs typeface="Montserrat"/>
                <a:sym typeface="Montserrat"/>
              </a:rPr>
              <a:t>Confounding Factors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CCCFCC"/>
                </a:solidFill>
                <a:latin typeface="Open Sans"/>
                <a:ea typeface="Open Sans"/>
                <a:cs typeface="Open Sans"/>
                <a:sym typeface="Open Sans"/>
              </a:rPr>
              <a:t>Unmeasured confounders like medications or diet, and simplified binary cutoffs, may influence risk estimates.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390" t="0" r="-39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normAutofit fontScale="100000" lnSpcReduction="0"/>
          </a:bodyPr>
          <a:lstStyle/>
          <a:p>
            <a:pPr algn="ctr">
              <a:defRPr/>
            </a:pPr>
            <a:endParaRPr/>
          </a:p>
        </p:txBody>
      </p:sp>
      <p:sp>
        <p:nvSpPr>
          <p:cNvPr name="AutoShape 3" id="3"/>
          <p:cNvSpPr/>
          <p:nvPr/>
        </p:nvSpPr>
        <p:spPr>
          <a:xfrm rot="0" flipH="false" flipV="false">
            <a:off x="635000" y="1905000"/>
            <a:ext cx="10922000" cy="1016000"/>
          </a:xfrm>
          <a:prstGeom prst="rect">
            <a:avLst/>
          </a:prstGeom>
          <a:noFill/>
          <a:ln w="12700" cmpd="sng" cap="flat">
            <a:noFill/>
            <a:prstDash val="solid"/>
            <a:round/>
          </a:ln>
        </p:spPr>
        <p:txBody>
          <a:bodyPr anchor="ctr" rtlCol="false" anchorCtr="false" vert="horz" wrap="square" lIns="0" rIns="0" tIns="0" bIns="0">
            <a:normAutofit fontScale="100000" lnSpcReduction="0"/>
          </a:bodyPr>
          <a:lstStyle/>
          <a:p>
            <a:pPr algn="ctr" indent="0">
              <a:lnSpc>
                <a:spcPct val="125000"/>
              </a:lnSpc>
              <a:defRPr/>
            </a:pPr>
            <a:r>
              <a:rPr lang="en-US" b="true" i="false" strike="noStrike" u="none" sz="4200">
                <a:solidFill>
                  <a:srgbClr val="FFFFFF"/>
                </a:solidFill>
                <a:latin typeface="Montserrat"/>
                <a:ea typeface="Montserrat"/>
                <a:cs typeface="Montserrat"/>
                <a:sym typeface="Montserrat"/>
              </a:rPr>
              <a:t>Conclusion and Next Steps</a:t>
            </a:r>
            <a:endParaRPr lang="en-US" sz="1100"/>
          </a:p>
        </p:txBody>
      </p:sp>
      <p:sp>
        <p:nvSpPr>
          <p:cNvPr name="AutoShape 4" id="4"/>
          <p:cNvSpPr/>
          <p:nvPr/>
        </p:nvSpPr>
        <p:spPr>
          <a:xfrm rot="0" flipH="false" flipV="false">
            <a:off x="1651000" y="3175000"/>
            <a:ext cx="8890000" cy="2540000"/>
          </a:xfrm>
          <a:prstGeom prst="roundRect">
            <a:avLst>
              <a:gd name="adj" fmla="val 6000"/>
            </a:avLst>
          </a:prstGeom>
          <a:solidFill>
            <a:srgbClr val="202020">
              <a:alpha val="85000"/>
            </a:srgbClr>
          </a:solidFill>
          <a:ln w="25400" cmpd="sng" cap="flat">
            <a:noFill/>
            <a:prstDash val="solid"/>
            <a:round/>
          </a:ln>
        </p:spPr>
        <p:txBody>
          <a:bodyPr anchor="ctr" rtlCol="false" anchorCtr="false" vert="horz" wrap="square" lIns="508000" rIns="508000" tIns="0" bIns="0">
            <a:normAutofit fontScale="100000" lnSpcReduction="20000"/>
          </a:bodyPr>
          <a:lstStyle/>
          <a:p>
            <a:pPr algn="ctr" indent="0">
              <a:lnSpc>
                <a:spcPct val="125000"/>
              </a:lnSpc>
              <a:defRPr/>
            </a:pPr>
            <a:r>
              <a:rPr lang="en-US" b="false" i="false" strike="noStrike" u="none" sz="1800">
                <a:solidFill>
                  <a:srgbClr val="DFE2DF"/>
                </a:solidFill>
                <a:latin typeface="Open Sans"/>
                <a:ea typeface="Open Sans"/>
                <a:cs typeface="Open Sans"/>
                <a:sym typeface="Open Sans"/>
              </a:rPr>
              <a:t>Systolic blood pressure proves to be a significantly stronger predictor of cardiovascular disease than BMI in this dataset.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800">
                <a:solidFill>
                  <a:srgbClr val="DFE2DF"/>
                </a:solidFill>
                <a:latin typeface="Open Sans"/>
                <a:ea typeface="Open Sans"/>
                <a:cs typeface="Open Sans"/>
                <a:sym typeface="Open Sans"/>
              </a:rPr>
              <a:t>While joint risks are highest, hypertension alone is a critical red flag, aligning with established clinical understanding.</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800">
                <a:solidFill>
                  <a:srgbClr val="DFE2DF"/>
                </a:solidFill>
                <a:latin typeface="Open Sans"/>
                <a:ea typeface="Open Sans"/>
                <a:cs typeface="Open Sans"/>
                <a:sym typeface="Open Sans"/>
              </a:rPr>
              <a:t>Future work should focus on longitudinal analysis and causal modeling to refine these insights for predictive care.</a:t>
            </a: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